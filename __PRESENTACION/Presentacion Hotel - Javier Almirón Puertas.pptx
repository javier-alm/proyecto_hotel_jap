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Barlow Bold" charset="1" panose="00000800000000000000"/>
      <p:regular r:id="rId17"/>
    </p:embeddedFont>
    <p:embeddedFont>
      <p:font typeface="Barlow" charset="1" panose="00000500000000000000"/>
      <p:regular r:id="rId18"/>
    </p:embeddedFont>
    <p:embeddedFont>
      <p:font typeface="League Spartan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1780" y="1262648"/>
            <a:ext cx="17024440" cy="5168866"/>
          </a:xfrm>
          <a:custGeom>
            <a:avLst/>
            <a:gdLst/>
            <a:ahLst/>
            <a:cxnLst/>
            <a:rect r="r" b="b" t="t" l="l"/>
            <a:pathLst>
              <a:path h="5168866" w="17024440">
                <a:moveTo>
                  <a:pt x="0" y="0"/>
                </a:moveTo>
                <a:lnTo>
                  <a:pt x="17024440" y="0"/>
                </a:lnTo>
                <a:lnTo>
                  <a:pt x="17024440" y="5168866"/>
                </a:lnTo>
                <a:lnTo>
                  <a:pt x="0" y="5168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98658" y="2108566"/>
            <a:ext cx="14490685" cy="3886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7"/>
              </a:lnSpc>
            </a:pPr>
            <a:r>
              <a:rPr lang="en-US" b="true" sz="15986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PROYECTO HOTEL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304159" y="7662256"/>
            <a:ext cx="7315200" cy="1596044"/>
          </a:xfrm>
          <a:custGeom>
            <a:avLst/>
            <a:gdLst/>
            <a:ahLst/>
            <a:cxnLst/>
            <a:rect r="r" b="b" t="t" l="l"/>
            <a:pathLst>
              <a:path h="1596044" w="7315200">
                <a:moveTo>
                  <a:pt x="0" y="0"/>
                </a:moveTo>
                <a:lnTo>
                  <a:pt x="7315200" y="0"/>
                </a:lnTo>
                <a:lnTo>
                  <a:pt x="7315200" y="1596044"/>
                </a:lnTo>
                <a:lnTo>
                  <a:pt x="0" y="15960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44843" y="6402878"/>
            <a:ext cx="2947086" cy="4114800"/>
          </a:xfrm>
          <a:custGeom>
            <a:avLst/>
            <a:gdLst/>
            <a:ahLst/>
            <a:cxnLst/>
            <a:rect r="r" b="b" t="t" l="l"/>
            <a:pathLst>
              <a:path h="4114800" w="2947086">
                <a:moveTo>
                  <a:pt x="0" y="0"/>
                </a:moveTo>
                <a:lnTo>
                  <a:pt x="2947086" y="0"/>
                </a:lnTo>
                <a:lnTo>
                  <a:pt x="29470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597248">
            <a:off x="12662648" y="-925414"/>
            <a:ext cx="7315200" cy="3908228"/>
          </a:xfrm>
          <a:custGeom>
            <a:avLst/>
            <a:gdLst/>
            <a:ahLst/>
            <a:cxnLst/>
            <a:rect r="r" b="b" t="t" l="l"/>
            <a:pathLst>
              <a:path h="3908228" w="7315200">
                <a:moveTo>
                  <a:pt x="0" y="0"/>
                </a:moveTo>
                <a:lnTo>
                  <a:pt x="7315200" y="0"/>
                </a:lnTo>
                <a:lnTo>
                  <a:pt x="7315200" y="3908228"/>
                </a:lnTo>
                <a:lnTo>
                  <a:pt x="0" y="39082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928394">
            <a:off x="14016681" y="4713249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7"/>
                </a:lnTo>
                <a:lnTo>
                  <a:pt x="0" y="54590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4928495">
            <a:off x="-457756" y="-3290088"/>
            <a:ext cx="4712828" cy="6580175"/>
          </a:xfrm>
          <a:custGeom>
            <a:avLst/>
            <a:gdLst/>
            <a:ahLst/>
            <a:cxnLst/>
            <a:rect r="r" b="b" t="t" l="l"/>
            <a:pathLst>
              <a:path h="6580175" w="4712828">
                <a:moveTo>
                  <a:pt x="0" y="0"/>
                </a:moveTo>
                <a:lnTo>
                  <a:pt x="4712828" y="0"/>
                </a:lnTo>
                <a:lnTo>
                  <a:pt x="4712828" y="6580176"/>
                </a:lnTo>
                <a:lnTo>
                  <a:pt x="0" y="65801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87935" y="7560405"/>
            <a:ext cx="2422912" cy="2422912"/>
          </a:xfrm>
          <a:custGeom>
            <a:avLst/>
            <a:gdLst/>
            <a:ahLst/>
            <a:cxnLst/>
            <a:rect r="r" b="b" t="t" l="l"/>
            <a:pathLst>
              <a:path h="2422912" w="2422912">
                <a:moveTo>
                  <a:pt x="0" y="0"/>
                </a:moveTo>
                <a:lnTo>
                  <a:pt x="2422911" y="0"/>
                </a:lnTo>
                <a:lnTo>
                  <a:pt x="2422911" y="2422911"/>
                </a:lnTo>
                <a:lnTo>
                  <a:pt x="0" y="24229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505836" y="8321252"/>
            <a:ext cx="6753464" cy="65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2"/>
              </a:lnSpc>
            </a:pPr>
            <a:r>
              <a:rPr lang="en-US" sz="2730" spc="152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CURSO DE DATA ENGINEERING - CÍVICA</a:t>
            </a:r>
          </a:p>
          <a:p>
            <a:pPr algn="ctr">
              <a:lnSpc>
                <a:spcPts val="2512"/>
              </a:lnSpc>
            </a:pPr>
            <a:r>
              <a:rPr lang="en-US" sz="2730" spc="152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MARZO - MAYO 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99391" y="9324975"/>
            <a:ext cx="6753464" cy="344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2"/>
              </a:lnSpc>
            </a:pPr>
            <a:r>
              <a:rPr lang="en-US" b="true" sz="2730" spc="152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Javier Almirón Puertas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8682" y="1015579"/>
            <a:ext cx="15470636" cy="1272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12"/>
              </a:lnSpc>
            </a:pPr>
            <a:r>
              <a:rPr lang="en-US" b="true" sz="10122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RESUMEN EJECUTIVO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4791106">
            <a:off x="-2588774" y="4981674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7"/>
                </a:lnTo>
                <a:lnTo>
                  <a:pt x="0" y="5459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846260">
            <a:off x="14670526" y="-2496956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7234948" y="0"/>
                </a:moveTo>
                <a:lnTo>
                  <a:pt x="0" y="0"/>
                </a:lnTo>
                <a:lnTo>
                  <a:pt x="0" y="5459097"/>
                </a:lnTo>
                <a:lnTo>
                  <a:pt x="7234948" y="5459097"/>
                </a:lnTo>
                <a:lnTo>
                  <a:pt x="723494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27579" y="2976977"/>
            <a:ext cx="5292762" cy="5718237"/>
            <a:chOff x="0" y="0"/>
            <a:chExt cx="7057016" cy="7624316"/>
          </a:xfrm>
        </p:grpSpPr>
        <p:grpSp>
          <p:nvGrpSpPr>
            <p:cNvPr name="Group 6" id="6"/>
            <p:cNvGrpSpPr/>
            <p:nvPr/>
          </p:nvGrpSpPr>
          <p:grpSpPr>
            <a:xfrm rot="5400000">
              <a:off x="-283650" y="283650"/>
              <a:ext cx="7624316" cy="7057016"/>
              <a:chOff x="0" y="0"/>
              <a:chExt cx="635000" cy="587752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35000" cy="587752"/>
              </a:xfrm>
              <a:custGeom>
                <a:avLst/>
                <a:gdLst/>
                <a:ahLst/>
                <a:cxnLst/>
                <a:rect r="r" b="b" t="t" l="l"/>
                <a:pathLst>
                  <a:path h="587752" w="635000">
                    <a:moveTo>
                      <a:pt x="26443" y="0"/>
                    </a:moveTo>
                    <a:lnTo>
                      <a:pt x="608557" y="0"/>
                    </a:lnTo>
                    <a:cubicBezTo>
                      <a:pt x="615570" y="0"/>
                      <a:pt x="622296" y="2786"/>
                      <a:pt x="627255" y="7745"/>
                    </a:cubicBezTo>
                    <a:cubicBezTo>
                      <a:pt x="632214" y="12704"/>
                      <a:pt x="635000" y="19430"/>
                      <a:pt x="635000" y="26443"/>
                    </a:cubicBezTo>
                    <a:lnTo>
                      <a:pt x="635000" y="561308"/>
                    </a:lnTo>
                    <a:cubicBezTo>
                      <a:pt x="635000" y="568322"/>
                      <a:pt x="632214" y="575048"/>
                      <a:pt x="627255" y="580007"/>
                    </a:cubicBezTo>
                    <a:cubicBezTo>
                      <a:pt x="622296" y="584966"/>
                      <a:pt x="615570" y="587752"/>
                      <a:pt x="608557" y="587752"/>
                    </a:cubicBezTo>
                    <a:lnTo>
                      <a:pt x="26443" y="587752"/>
                    </a:lnTo>
                    <a:cubicBezTo>
                      <a:pt x="19430" y="587752"/>
                      <a:pt x="12704" y="584966"/>
                      <a:pt x="7745" y="580007"/>
                    </a:cubicBezTo>
                    <a:cubicBezTo>
                      <a:pt x="2786" y="575048"/>
                      <a:pt x="0" y="568322"/>
                      <a:pt x="0" y="561308"/>
                    </a:cubicBezTo>
                    <a:lnTo>
                      <a:pt x="0" y="26443"/>
                    </a:lnTo>
                    <a:cubicBezTo>
                      <a:pt x="0" y="19430"/>
                      <a:pt x="2786" y="12704"/>
                      <a:pt x="7745" y="7745"/>
                    </a:cubicBezTo>
                    <a:cubicBezTo>
                      <a:pt x="12704" y="2786"/>
                      <a:pt x="19430" y="0"/>
                      <a:pt x="26443" y="0"/>
                    </a:cubicBez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38100" cap="rnd">
                <a:solidFill>
                  <a:srgbClr val="000000">
                    <a:alpha val="80000"/>
                  </a:srgbClr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35000" cy="6258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363608" y="1083214"/>
              <a:ext cx="6329799" cy="5327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22"/>
                </a:lnSpc>
              </a:pPr>
              <a:r>
                <a:rPr lang="en-US" b="true" sz="2730" spc="152">
                  <a:solidFill>
                    <a:srgbClr val="333652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VISIBILIDAD OPERATIVA.</a:t>
              </a:r>
            </a:p>
            <a:p>
              <a:pPr algn="ctr">
                <a:lnSpc>
                  <a:spcPts val="3822"/>
                </a:lnSpc>
              </a:pPr>
            </a:p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139">
                  <a:solidFill>
                    <a:srgbClr val="333652"/>
                  </a:solidFill>
                  <a:latin typeface="Barlow"/>
                  <a:ea typeface="Barlow"/>
                  <a:cs typeface="Barlow"/>
                  <a:sym typeface="Barlow"/>
                </a:rPr>
                <a:t>CENTRALIZ</a:t>
              </a:r>
              <a:r>
                <a:rPr lang="en-US" sz="2499" spc="139">
                  <a:solidFill>
                    <a:srgbClr val="333652"/>
                  </a:solidFill>
                  <a:latin typeface="Barlow"/>
                  <a:ea typeface="Barlow"/>
                  <a:cs typeface="Barlow"/>
                  <a:sym typeface="Barlow"/>
                </a:rPr>
                <a:t>ACIÓN UNIFICADA DE SILOS TRANSACCIONALES</a:t>
              </a:r>
            </a:p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139">
                  <a:solidFill>
                    <a:srgbClr val="333652"/>
                  </a:solidFill>
                  <a:latin typeface="Barlow"/>
                  <a:ea typeface="Barlow"/>
                  <a:cs typeface="Barlow"/>
                  <a:sym typeface="Barlow"/>
                </a:rPr>
                <a:t>PREVIAMENTE AISLADOS (RESERVAS, CONSUMOS, HABITACIONES) EN UN ALMACÉN DE DATOS CENTRAL</a:t>
              </a:r>
            </a:p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139">
                  <a:solidFill>
                    <a:srgbClr val="333652"/>
                  </a:solidFill>
                  <a:latin typeface="Barlow"/>
                  <a:ea typeface="Barlow"/>
                  <a:cs typeface="Barlow"/>
                  <a:sym typeface="Barlow"/>
                </a:rPr>
                <a:t>EN LA NUBE.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52281" y="9574365"/>
            <a:ext cx="15583439" cy="31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9"/>
              </a:lnSpc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OBJETIVO: PIPELINE AUTOMÁTICO QUE ENTREGUE UN DASHBOARD CON KPIS REALES.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638806" y="2976977"/>
            <a:ext cx="4611659" cy="5718237"/>
            <a:chOff x="0" y="0"/>
            <a:chExt cx="6148879" cy="7624316"/>
          </a:xfrm>
        </p:grpSpPr>
        <p:grpSp>
          <p:nvGrpSpPr>
            <p:cNvPr name="Group 12" id="12"/>
            <p:cNvGrpSpPr/>
            <p:nvPr/>
          </p:nvGrpSpPr>
          <p:grpSpPr>
            <a:xfrm rot="5400000">
              <a:off x="-737719" y="737719"/>
              <a:ext cx="7624316" cy="6148879"/>
              <a:chOff x="0" y="0"/>
              <a:chExt cx="635000" cy="51211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35000" cy="512117"/>
              </a:xfrm>
              <a:custGeom>
                <a:avLst/>
                <a:gdLst/>
                <a:ahLst/>
                <a:cxnLst/>
                <a:rect r="r" b="b" t="t" l="l"/>
                <a:pathLst>
                  <a:path h="512117" w="635000">
                    <a:moveTo>
                      <a:pt x="26443" y="0"/>
                    </a:moveTo>
                    <a:lnTo>
                      <a:pt x="608557" y="0"/>
                    </a:lnTo>
                    <a:cubicBezTo>
                      <a:pt x="615570" y="0"/>
                      <a:pt x="622296" y="2786"/>
                      <a:pt x="627255" y="7745"/>
                    </a:cubicBezTo>
                    <a:cubicBezTo>
                      <a:pt x="632214" y="12704"/>
                      <a:pt x="635000" y="19430"/>
                      <a:pt x="635000" y="26443"/>
                    </a:cubicBezTo>
                    <a:lnTo>
                      <a:pt x="635000" y="485673"/>
                    </a:lnTo>
                    <a:cubicBezTo>
                      <a:pt x="635000" y="492686"/>
                      <a:pt x="632214" y="499412"/>
                      <a:pt x="627255" y="504371"/>
                    </a:cubicBezTo>
                    <a:cubicBezTo>
                      <a:pt x="622296" y="509331"/>
                      <a:pt x="615570" y="512117"/>
                      <a:pt x="608557" y="512117"/>
                    </a:cubicBezTo>
                    <a:lnTo>
                      <a:pt x="26443" y="512117"/>
                    </a:lnTo>
                    <a:cubicBezTo>
                      <a:pt x="19430" y="512117"/>
                      <a:pt x="12704" y="509331"/>
                      <a:pt x="7745" y="504371"/>
                    </a:cubicBezTo>
                    <a:cubicBezTo>
                      <a:pt x="2786" y="499412"/>
                      <a:pt x="0" y="492686"/>
                      <a:pt x="0" y="485673"/>
                    </a:cubicBezTo>
                    <a:lnTo>
                      <a:pt x="0" y="26443"/>
                    </a:lnTo>
                    <a:cubicBezTo>
                      <a:pt x="0" y="19430"/>
                      <a:pt x="2786" y="12704"/>
                      <a:pt x="7745" y="7745"/>
                    </a:cubicBezTo>
                    <a:cubicBezTo>
                      <a:pt x="12704" y="2786"/>
                      <a:pt x="19430" y="0"/>
                      <a:pt x="26443" y="0"/>
                    </a:cubicBez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38100" cap="rnd">
                <a:solidFill>
                  <a:srgbClr val="000000">
                    <a:alpha val="80000"/>
                  </a:srgbClr>
                </a:solidFill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635000" cy="5502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28808" y="368821"/>
              <a:ext cx="5491262" cy="7080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22"/>
                </a:lnSpc>
              </a:pPr>
              <a:r>
                <a:rPr lang="en-US" b="true" sz="2730" spc="152">
                  <a:solidFill>
                    <a:srgbClr val="333652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CALIDAD E INTEGRIDAD.</a:t>
              </a:r>
            </a:p>
            <a:p>
              <a:pPr algn="ctr">
                <a:lnSpc>
                  <a:spcPts val="3822"/>
                </a:lnSpc>
              </a:pPr>
            </a:p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139">
                  <a:solidFill>
                    <a:srgbClr val="333652"/>
                  </a:solidFill>
                  <a:latin typeface="Barlow"/>
                  <a:ea typeface="Barlow"/>
                  <a:cs typeface="Barlow"/>
                  <a:sym typeface="Barlow"/>
                </a:rPr>
                <a:t>IMPLEM</a:t>
              </a:r>
              <a:r>
                <a:rPr lang="en-US" sz="2499" spc="139">
                  <a:solidFill>
                    <a:srgbClr val="333652"/>
                  </a:solidFill>
                  <a:latin typeface="Barlow"/>
                  <a:ea typeface="Barlow"/>
                  <a:cs typeface="Barlow"/>
                  <a:sym typeface="Barlow"/>
                </a:rPr>
                <a:t>ENT</a:t>
              </a:r>
              <a:r>
                <a:rPr lang="en-US" sz="2499" spc="139">
                  <a:solidFill>
                    <a:srgbClr val="333652"/>
                  </a:solidFill>
                  <a:latin typeface="Barlow"/>
                  <a:ea typeface="Barlow"/>
                  <a:cs typeface="Barlow"/>
                  <a:sym typeface="Barlow"/>
                </a:rPr>
                <a:t>ACIÓN DE UN MARCO GOBIERNO</a:t>
              </a:r>
            </a:p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139">
                  <a:solidFill>
                    <a:srgbClr val="333652"/>
                  </a:solidFill>
                  <a:latin typeface="Barlow"/>
                  <a:ea typeface="Barlow"/>
                  <a:cs typeface="Barlow"/>
                  <a:sym typeface="Barlow"/>
                </a:rPr>
                <a:t>MEDIANTE DBT CORE, VALIDANDO LA VERACIDAD DEL DATO MEDIANTE TESTS AUTOMATIZADOS Y EL</a:t>
              </a:r>
            </a:p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139">
                  <a:solidFill>
                    <a:srgbClr val="333652"/>
                  </a:solidFill>
                  <a:latin typeface="Barlow"/>
                  <a:ea typeface="Barlow"/>
                  <a:cs typeface="Barlow"/>
                  <a:sym typeface="Barlow"/>
                </a:rPr>
                <a:t>AISLAMIENTO HISTÓRICO POR SNAPSHOTS (SCD TIPO 2).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68930" y="2976977"/>
            <a:ext cx="5390370" cy="5718237"/>
            <a:chOff x="0" y="0"/>
            <a:chExt cx="7187161" cy="7624316"/>
          </a:xfrm>
        </p:grpSpPr>
        <p:grpSp>
          <p:nvGrpSpPr>
            <p:cNvPr name="Group 17" id="17"/>
            <p:cNvGrpSpPr/>
            <p:nvPr/>
          </p:nvGrpSpPr>
          <p:grpSpPr>
            <a:xfrm rot="5400000">
              <a:off x="-218578" y="218578"/>
              <a:ext cx="7624316" cy="7187161"/>
              <a:chOff x="0" y="0"/>
              <a:chExt cx="635000" cy="598591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35000" cy="598591"/>
              </a:xfrm>
              <a:custGeom>
                <a:avLst/>
                <a:gdLst/>
                <a:ahLst/>
                <a:cxnLst/>
                <a:rect r="r" b="b" t="t" l="l"/>
                <a:pathLst>
                  <a:path h="598591" w="635000">
                    <a:moveTo>
                      <a:pt x="26443" y="0"/>
                    </a:moveTo>
                    <a:lnTo>
                      <a:pt x="608557" y="0"/>
                    </a:lnTo>
                    <a:cubicBezTo>
                      <a:pt x="615570" y="0"/>
                      <a:pt x="622296" y="2786"/>
                      <a:pt x="627255" y="7745"/>
                    </a:cubicBezTo>
                    <a:cubicBezTo>
                      <a:pt x="632214" y="12704"/>
                      <a:pt x="635000" y="19430"/>
                      <a:pt x="635000" y="26443"/>
                    </a:cubicBezTo>
                    <a:lnTo>
                      <a:pt x="635000" y="572148"/>
                    </a:lnTo>
                    <a:cubicBezTo>
                      <a:pt x="635000" y="579161"/>
                      <a:pt x="632214" y="585887"/>
                      <a:pt x="627255" y="590846"/>
                    </a:cubicBezTo>
                    <a:cubicBezTo>
                      <a:pt x="622296" y="595805"/>
                      <a:pt x="615570" y="598591"/>
                      <a:pt x="608557" y="598591"/>
                    </a:cubicBezTo>
                    <a:lnTo>
                      <a:pt x="26443" y="598591"/>
                    </a:lnTo>
                    <a:cubicBezTo>
                      <a:pt x="11839" y="598591"/>
                      <a:pt x="0" y="586752"/>
                      <a:pt x="0" y="572148"/>
                    </a:cubicBezTo>
                    <a:lnTo>
                      <a:pt x="0" y="26443"/>
                    </a:lnTo>
                    <a:cubicBezTo>
                      <a:pt x="0" y="19430"/>
                      <a:pt x="2786" y="12704"/>
                      <a:pt x="7745" y="7745"/>
                    </a:cubicBezTo>
                    <a:cubicBezTo>
                      <a:pt x="12704" y="2786"/>
                      <a:pt x="19430" y="0"/>
                      <a:pt x="26443" y="0"/>
                    </a:cubicBez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38100" cap="rnd">
                <a:solidFill>
                  <a:srgbClr val="000000">
                    <a:alpha val="80000"/>
                  </a:srgbClr>
                </a:solidFill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35000" cy="6366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55600" y="1219169"/>
              <a:ext cx="6506584" cy="5327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22"/>
                </a:lnSpc>
              </a:pPr>
              <a:r>
                <a:rPr lang="en-US" b="true" sz="2730" spc="152">
                  <a:solidFill>
                    <a:srgbClr val="333652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OPTIMIZACIÓN COMERCIAL.</a:t>
              </a:r>
            </a:p>
            <a:p>
              <a:pPr algn="ctr">
                <a:lnSpc>
                  <a:spcPts val="3822"/>
                </a:lnSpc>
              </a:pPr>
            </a:p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139">
                  <a:solidFill>
                    <a:srgbClr val="333652"/>
                  </a:solidFill>
                  <a:latin typeface="Barlow"/>
                  <a:ea typeface="Barlow"/>
                  <a:cs typeface="Barlow"/>
                  <a:sym typeface="Barlow"/>
                </a:rPr>
                <a:t>CÁLCULO</a:t>
              </a:r>
              <a:r>
                <a:rPr lang="en-US" sz="2499" spc="139">
                  <a:solidFill>
                    <a:srgbClr val="333652"/>
                  </a:solidFill>
                  <a:latin typeface="Barlow"/>
                  <a:ea typeface="Barlow"/>
                  <a:cs typeface="Barlow"/>
                  <a:sym typeface="Barlow"/>
                </a:rPr>
                <a:t> NATIVO DE LOS KPIS</a:t>
              </a:r>
            </a:p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139">
                  <a:solidFill>
                    <a:srgbClr val="333652"/>
                  </a:solidFill>
                  <a:latin typeface="Barlow"/>
                  <a:ea typeface="Barlow"/>
                  <a:cs typeface="Barlow"/>
                  <a:sym typeface="Barlow"/>
                </a:rPr>
                <a:t>OPERACIONALES DEL SECTOR HOTELERO (REVPAR, ADR, OCUPACIÓN) CONSOLIDADOS EN DATA MARTS</a:t>
              </a:r>
            </a:p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139">
                  <a:solidFill>
                    <a:srgbClr val="333652"/>
                  </a:solidFill>
                  <a:latin typeface="Barlow"/>
                  <a:ea typeface="Barlow"/>
                  <a:cs typeface="Barlow"/>
                  <a:sym typeface="Barlow"/>
                </a:rPr>
                <a:t>DE ALTO RENDIMIENTO PARA SU CONSUMO.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11560" y="525935"/>
            <a:ext cx="14864881" cy="280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79"/>
              </a:lnSpc>
            </a:pPr>
            <a:r>
              <a:rPr lang="en-US" b="true" sz="11608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OBJETIVOS</a:t>
            </a:r>
          </a:p>
          <a:p>
            <a:pPr algn="ctr">
              <a:lnSpc>
                <a:spcPts val="1067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-928394">
            <a:off x="14016681" y="4713249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7"/>
                </a:lnTo>
                <a:lnTo>
                  <a:pt x="0" y="5459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28394">
            <a:off x="-2098064" y="-1907295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7"/>
                </a:lnTo>
                <a:lnTo>
                  <a:pt x="0" y="5459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11560" y="4106907"/>
            <a:ext cx="15262964" cy="300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spc="168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INCLUYE 4 OBJETIV</a:t>
            </a:r>
            <a:r>
              <a:rPr lang="en-US" b="true" sz="3000" spc="168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OS CLAROS: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DISEÑAR UN DATA WAREHOUSE ORIENTADO AL NEGOCIO HOTELERO.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SEPARAR LAS CAPAS BRONZE, SILVER Y GOLD.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TRANSFORMAR Y TESTEAR DATOS CON DBT.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EXPONER INFORMACIÓN EN POWER BI PARA ANÁLISIS EJECUTIVO.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28394">
            <a:off x="14016681" y="4713249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7"/>
                </a:lnTo>
                <a:lnTo>
                  <a:pt x="0" y="5459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130713">
            <a:off x="12181621" y="-1341199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6"/>
                </a:lnTo>
                <a:lnTo>
                  <a:pt x="0" y="54590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85250">
            <a:off x="-2977819" y="-1341199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6"/>
                </a:lnTo>
                <a:lnTo>
                  <a:pt x="0" y="54590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978146">
            <a:off x="-3973107" y="5724454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7"/>
                </a:lnTo>
                <a:lnTo>
                  <a:pt x="0" y="5459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62108" y="4172282"/>
            <a:ext cx="4995341" cy="4281721"/>
          </a:xfrm>
          <a:custGeom>
            <a:avLst/>
            <a:gdLst/>
            <a:ahLst/>
            <a:cxnLst/>
            <a:rect r="r" b="b" t="t" l="l"/>
            <a:pathLst>
              <a:path h="4281721" w="4995341">
                <a:moveTo>
                  <a:pt x="0" y="0"/>
                </a:moveTo>
                <a:lnTo>
                  <a:pt x="4995341" y="0"/>
                </a:lnTo>
                <a:lnTo>
                  <a:pt x="4995341" y="4281720"/>
                </a:lnTo>
                <a:lnTo>
                  <a:pt x="0" y="42817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604333" y="4172282"/>
            <a:ext cx="4995341" cy="4281721"/>
          </a:xfrm>
          <a:custGeom>
            <a:avLst/>
            <a:gdLst/>
            <a:ahLst/>
            <a:cxnLst/>
            <a:rect r="r" b="b" t="t" l="l"/>
            <a:pathLst>
              <a:path h="4281721" w="4995341">
                <a:moveTo>
                  <a:pt x="0" y="0"/>
                </a:moveTo>
                <a:lnTo>
                  <a:pt x="4995341" y="0"/>
                </a:lnTo>
                <a:lnTo>
                  <a:pt x="4995341" y="4281720"/>
                </a:lnTo>
                <a:lnTo>
                  <a:pt x="0" y="42817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830551" y="4172282"/>
            <a:ext cx="4995341" cy="4281721"/>
          </a:xfrm>
          <a:custGeom>
            <a:avLst/>
            <a:gdLst/>
            <a:ahLst/>
            <a:cxnLst/>
            <a:rect r="r" b="b" t="t" l="l"/>
            <a:pathLst>
              <a:path h="4281721" w="4995341">
                <a:moveTo>
                  <a:pt x="0" y="0"/>
                </a:moveTo>
                <a:lnTo>
                  <a:pt x="4995341" y="0"/>
                </a:lnTo>
                <a:lnTo>
                  <a:pt x="4995341" y="4281720"/>
                </a:lnTo>
                <a:lnTo>
                  <a:pt x="0" y="42817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02133" y="5574830"/>
            <a:ext cx="4625975" cy="225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 spc="15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DATOS CRUDOS</a:t>
            </a:r>
          </a:p>
          <a:p>
            <a:pPr algn="ctr">
              <a:lnSpc>
                <a:spcPts val="3822"/>
              </a:lnSpc>
            </a:pP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10 tablas fu</a:t>
            </a:r>
            <a:r>
              <a:rPr lang="en-US" sz="2499" spc="139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ENTE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RAW DATA SIN TRANSFORMAR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SEEDS: PAÍSES, SERVICIOS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72922" y="4578070"/>
            <a:ext cx="1773714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spc="196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BRONZE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08568" y="5508155"/>
            <a:ext cx="4186872" cy="2696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 spc="15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STAGING &amp; LIMPIEZA</a:t>
            </a:r>
          </a:p>
          <a:p>
            <a:pPr algn="ctr">
              <a:lnSpc>
                <a:spcPts val="3822"/>
              </a:lnSpc>
            </a:pP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13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7 MODELOS</a:t>
            </a:r>
            <a:r>
              <a:rPr lang="en-US" b="true" sz="2499" spc="13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 stagi</a:t>
            </a:r>
            <a:r>
              <a:rPr lang="en-US" b="true" sz="2499" spc="13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NG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13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VALIDACIÓN DE FECHAS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13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DEDUPLICACIÓN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13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INTEGRIDAD REFERENCIAL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60928" y="4578070"/>
            <a:ext cx="1571466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spc="196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SILVER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15234" y="5574830"/>
            <a:ext cx="4625975" cy="225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 spc="151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DATOS CRUDOS</a:t>
            </a:r>
          </a:p>
          <a:p>
            <a:pPr algn="ctr">
              <a:lnSpc>
                <a:spcPts val="3822"/>
              </a:lnSpc>
            </a:pP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10 tablas fu</a:t>
            </a: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ENTE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RAW DATA SIN TRANSFORMAR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SEEDS: PAÍSES, SERVICIOS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685584" y="4578070"/>
            <a:ext cx="1174591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spc="196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GOLD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19855" y="1254999"/>
            <a:ext cx="1044829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 spc="336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ARQUIT</a:t>
            </a:r>
            <a:r>
              <a:rPr lang="en-US" b="true" sz="6000" spc="336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ECTURA MEDALLION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791106">
            <a:off x="-1944949" y="5261598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7"/>
                </a:lnTo>
                <a:lnTo>
                  <a:pt x="0" y="5459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92005">
            <a:off x="14390602" y="-1415941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7234948" y="0"/>
                </a:moveTo>
                <a:lnTo>
                  <a:pt x="0" y="0"/>
                </a:lnTo>
                <a:lnTo>
                  <a:pt x="0" y="5459097"/>
                </a:lnTo>
                <a:lnTo>
                  <a:pt x="7234948" y="5459097"/>
                </a:lnTo>
                <a:lnTo>
                  <a:pt x="72349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12003" y="3254375"/>
            <a:ext cx="6158230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223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CORRECCIÓN DE FECHAS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4076700"/>
            <a:ext cx="6710232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168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SI CH</a:t>
            </a:r>
            <a:r>
              <a:rPr lang="en-US" sz="3000" spc="168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ECKOUT ≤ CHECKIN → +1 DÍA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168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FALLBACK A CURRENT_DATE()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59180" y="5475918"/>
            <a:ext cx="4064318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223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DEDUPLICACIÓN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10796" y="6298243"/>
            <a:ext cx="6066407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168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ROW_NUMBER() EN RES</a:t>
            </a:r>
            <a:r>
              <a:rPr lang="en-US" sz="3000" spc="168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ERVAS,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168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CONSUMOS Y SERVICIOS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49634" y="7697461"/>
            <a:ext cx="4482661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223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NORMALIZACIÓN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43177" y="8519786"/>
            <a:ext cx="6066407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168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PAÍSES </a:t>
            </a:r>
            <a:r>
              <a:rPr lang="en-US" sz="3000" spc="168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A CÓDIGO ISO3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168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MULTI-FORMATO PARSING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88542" y="529094"/>
            <a:ext cx="12910916" cy="22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b="true" sz="6500" spc="364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CAPA SILV</a:t>
            </a:r>
            <a:r>
              <a:rPr lang="en-US" b="true" sz="6500" spc="364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ER:</a:t>
            </a:r>
          </a:p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b="true" sz="6500" spc="364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CALIDAD DE DATOS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28394">
            <a:off x="13277925" y="4713249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7"/>
                </a:lnTo>
                <a:lnTo>
                  <a:pt x="0" y="5459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928394">
            <a:off x="-2377988" y="-2478183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7"/>
                </a:lnTo>
                <a:lnTo>
                  <a:pt x="0" y="5459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58394" y="556712"/>
            <a:ext cx="11204609" cy="22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b="true" sz="6500" spc="364">
                <a:solidFill>
                  <a:srgbClr val="FFE500"/>
                </a:solidFill>
                <a:latin typeface="Barlow Bold"/>
                <a:ea typeface="Barlow Bold"/>
                <a:cs typeface="Barlow Bold"/>
                <a:sym typeface="Barlow Bold"/>
              </a:rPr>
              <a:t>CAPA GOLD: </a:t>
            </a:r>
          </a:p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b="true" sz="6500" spc="364">
                <a:solidFill>
                  <a:srgbClr val="FFE500"/>
                </a:solidFill>
                <a:latin typeface="Barlow Bold"/>
                <a:ea typeface="Barlow Bold"/>
                <a:cs typeface="Barlow Bold"/>
                <a:sym typeface="Barlow Bold"/>
              </a:rPr>
              <a:t>STAR SCHEMA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24145" y="4372572"/>
            <a:ext cx="3829911" cy="323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 spc="196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DIMENSIONES</a:t>
            </a:r>
          </a:p>
          <a:p>
            <a:pPr algn="ctr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DIM_CLIENTES</a:t>
            </a:r>
          </a:p>
          <a:p>
            <a:pPr algn="l">
              <a:lnSpc>
                <a:spcPts val="3499"/>
              </a:lnSpc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DIM_HOTELES</a:t>
            </a:r>
          </a:p>
          <a:p>
            <a:pPr algn="l">
              <a:lnSpc>
                <a:spcPts val="3499"/>
              </a:lnSpc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DIM_HABITACIONES</a:t>
            </a:r>
          </a:p>
          <a:p>
            <a:pPr algn="l">
              <a:lnSpc>
                <a:spcPts val="3499"/>
              </a:lnSpc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DIM_SERVICIO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DIM_TIEMPO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01114" y="4372572"/>
            <a:ext cx="3829911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 spc="196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HECHOS</a:t>
            </a:r>
          </a:p>
          <a:p>
            <a:pPr algn="ctr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F</a:t>
            </a: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CT_RESERVAS</a:t>
            </a:r>
          </a:p>
          <a:p>
            <a:pPr algn="l">
              <a:lnSpc>
                <a:spcPts val="3499"/>
              </a:lnSpc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FCT_CONSUMOS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FCT_PAGOS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86370" y="4372572"/>
            <a:ext cx="4651932" cy="323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 spc="196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CARACTERÍSTICAS</a:t>
            </a:r>
          </a:p>
          <a:p>
            <a:pPr algn="ctr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✅ CARGA IN</a:t>
            </a: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CREMENTAL</a:t>
            </a:r>
          </a:p>
          <a:p>
            <a:pPr algn="l">
              <a:lnSpc>
                <a:spcPts val="3499"/>
              </a:lnSpc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✅ APPEND STRATEGY</a:t>
            </a:r>
          </a:p>
          <a:p>
            <a:pPr algn="l">
              <a:lnSpc>
                <a:spcPts val="3499"/>
              </a:lnSpc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✅ CONTRACTS ENFORCED</a:t>
            </a:r>
          </a:p>
          <a:p>
            <a:pPr algn="l">
              <a:lnSpc>
                <a:spcPts val="3499"/>
              </a:lnSpc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✅ RELATIONSHIPS TESTS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✅ SCD2 SNAPSHOT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5250">
            <a:off x="-2645257" y="-3909823"/>
            <a:ext cx="11413137" cy="8611731"/>
          </a:xfrm>
          <a:custGeom>
            <a:avLst/>
            <a:gdLst/>
            <a:ahLst/>
            <a:cxnLst/>
            <a:rect r="r" b="b" t="t" l="l"/>
            <a:pathLst>
              <a:path h="8611731" w="11413137">
                <a:moveTo>
                  <a:pt x="0" y="0"/>
                </a:moveTo>
                <a:lnTo>
                  <a:pt x="11413137" y="0"/>
                </a:lnTo>
                <a:lnTo>
                  <a:pt x="11413137" y="8611731"/>
                </a:lnTo>
                <a:lnTo>
                  <a:pt x="0" y="8611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928394">
            <a:off x="14016681" y="4713249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7"/>
                </a:lnTo>
                <a:lnTo>
                  <a:pt x="0" y="5459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130713">
            <a:off x="12181621" y="-1341199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6"/>
                </a:lnTo>
                <a:lnTo>
                  <a:pt x="0" y="54590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978146">
            <a:off x="-3973107" y="5724454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7"/>
                </a:lnTo>
                <a:lnTo>
                  <a:pt x="0" y="5459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811703" y="694306"/>
            <a:ext cx="8664595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 spc="336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MARTS:</a:t>
            </a:r>
          </a:p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 spc="336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MOD</a:t>
            </a:r>
            <a:r>
              <a:rPr lang="en-US" b="true" sz="6000" spc="336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ELOS DE NEGOCIO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76317" y="3770881"/>
            <a:ext cx="4989512" cy="229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spc="168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MAR</a:t>
            </a:r>
            <a:r>
              <a:rPr lang="en-US" b="true" sz="3000" spc="168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T_OCUPACION_DIARIA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• ADR PROMEDIO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• RESERVAS ACTIVAS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• INGRESOS POR NOCHE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26197" y="3770881"/>
            <a:ext cx="5996940" cy="229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spc="168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MAR</a:t>
            </a:r>
            <a:r>
              <a:rPr lang="en-US" b="true" sz="3000" spc="168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T_CLIENTES_FIDELIZACION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• SEGMENTACIÓN VIP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• LTV POR CLIENTE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• TASA RECURRENCIA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26950" y="6936356"/>
            <a:ext cx="6288246" cy="229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spc="168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MAR</a:t>
            </a:r>
            <a:r>
              <a:rPr lang="en-US" b="true" sz="3000" spc="168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T_RENTABILIDAD_SERVICIOS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• REVENUE SERVICIOS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• TICKET PROMEDIO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• SERVICIOS TOP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838" y="6936356"/>
            <a:ext cx="6403657" cy="229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spc="168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MAR</a:t>
            </a:r>
            <a:r>
              <a:rPr lang="en-US" b="true" sz="3000" spc="168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T_RENTABILIDAD_EJECUTIVA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• MARGEN DE LUCRO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• COSTES VS INGRESOS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• BENEFICIO NETO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3456" y="1171575"/>
            <a:ext cx="15805844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0"/>
              </a:lnSpc>
            </a:pPr>
            <a:r>
              <a:rPr lang="en-US" b="true" sz="600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 CARGA INCR</a:t>
            </a:r>
            <a:r>
              <a:rPr lang="en-US" b="true" sz="600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EMENTAL &amp; SCD2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9871605">
            <a:off x="-1956936" y="-1364676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6"/>
                </a:lnTo>
                <a:lnTo>
                  <a:pt x="0" y="54590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5154896">
            <a:off x="13265842" y="6831407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7234948" y="0"/>
                </a:moveTo>
                <a:lnTo>
                  <a:pt x="0" y="0"/>
                </a:lnTo>
                <a:lnTo>
                  <a:pt x="0" y="5459097"/>
                </a:lnTo>
                <a:lnTo>
                  <a:pt x="7234948" y="5459097"/>
                </a:lnTo>
                <a:lnTo>
                  <a:pt x="72349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36137" y="3137552"/>
            <a:ext cx="4852988" cy="525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139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CARGA INCREMENTAL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FCT_RESERVAS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• STRATEGY: APPEND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• NOT IN EVITA DUPLICADOS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• DOS TIMESTAMPS: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 - _DBT_INSERTED_AT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 - _DBT_UPDATED_AT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✅ SOLO INSERTA NUEVOS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⚠️ NO ACTUALIZA EXISTENTES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80942" y="3137552"/>
            <a:ext cx="5708776" cy="612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139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SNAPSHOT SCD2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SNP_CLIENTES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• STRATEGY: CHECK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• CHECK_COLS: ALL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• COLUMNAS AUTOMÁTICAS: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 - DBT_VALID_FROM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 - DBT_VALID_TO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 - DBT_SCD_ID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✅ HISTÓRICO COMPLETO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✅ AUDITORÍA DE CAMBIOS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4843" y="6402878"/>
            <a:ext cx="2947086" cy="4114800"/>
          </a:xfrm>
          <a:custGeom>
            <a:avLst/>
            <a:gdLst/>
            <a:ahLst/>
            <a:cxnLst/>
            <a:rect r="r" b="b" t="t" l="l"/>
            <a:pathLst>
              <a:path h="4114800" w="2947086">
                <a:moveTo>
                  <a:pt x="0" y="0"/>
                </a:moveTo>
                <a:lnTo>
                  <a:pt x="2947086" y="0"/>
                </a:lnTo>
                <a:lnTo>
                  <a:pt x="29470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97248">
            <a:off x="12662648" y="-925414"/>
            <a:ext cx="7315200" cy="3908228"/>
          </a:xfrm>
          <a:custGeom>
            <a:avLst/>
            <a:gdLst/>
            <a:ahLst/>
            <a:cxnLst/>
            <a:rect r="r" b="b" t="t" l="l"/>
            <a:pathLst>
              <a:path h="3908228" w="7315200">
                <a:moveTo>
                  <a:pt x="0" y="0"/>
                </a:moveTo>
                <a:lnTo>
                  <a:pt x="7315200" y="0"/>
                </a:lnTo>
                <a:lnTo>
                  <a:pt x="7315200" y="3908228"/>
                </a:lnTo>
                <a:lnTo>
                  <a:pt x="0" y="39082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28394">
            <a:off x="14016681" y="4713249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7"/>
                </a:lnTo>
                <a:lnTo>
                  <a:pt x="0" y="54590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4928495">
            <a:off x="-457756" y="-3290088"/>
            <a:ext cx="4712828" cy="6580175"/>
          </a:xfrm>
          <a:custGeom>
            <a:avLst/>
            <a:gdLst/>
            <a:ahLst/>
            <a:cxnLst/>
            <a:rect r="r" b="b" t="t" l="l"/>
            <a:pathLst>
              <a:path h="6580175" w="4712828">
                <a:moveTo>
                  <a:pt x="0" y="0"/>
                </a:moveTo>
                <a:lnTo>
                  <a:pt x="4712828" y="0"/>
                </a:lnTo>
                <a:lnTo>
                  <a:pt x="4712828" y="6580176"/>
                </a:lnTo>
                <a:lnTo>
                  <a:pt x="0" y="65801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63679" y="5353004"/>
            <a:ext cx="15360642" cy="4660657"/>
          </a:xfrm>
          <a:custGeom>
            <a:avLst/>
            <a:gdLst/>
            <a:ahLst/>
            <a:cxnLst/>
            <a:rect r="r" b="b" t="t" l="l"/>
            <a:pathLst>
              <a:path h="4660657" w="15360642">
                <a:moveTo>
                  <a:pt x="0" y="0"/>
                </a:moveTo>
                <a:lnTo>
                  <a:pt x="15360642" y="0"/>
                </a:lnTo>
                <a:lnTo>
                  <a:pt x="15360642" y="4660656"/>
                </a:lnTo>
                <a:lnTo>
                  <a:pt x="0" y="46606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1669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53456" y="2647766"/>
            <a:ext cx="3722933" cy="1691175"/>
          </a:xfrm>
          <a:custGeom>
            <a:avLst/>
            <a:gdLst/>
            <a:ahLst/>
            <a:cxnLst/>
            <a:rect r="r" b="b" t="t" l="l"/>
            <a:pathLst>
              <a:path h="1691175" w="3722933">
                <a:moveTo>
                  <a:pt x="0" y="0"/>
                </a:moveTo>
                <a:lnTo>
                  <a:pt x="3722933" y="0"/>
                </a:lnTo>
                <a:lnTo>
                  <a:pt x="3722933" y="1691175"/>
                </a:lnTo>
                <a:lnTo>
                  <a:pt x="0" y="16911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53456" y="1171575"/>
            <a:ext cx="15805844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0"/>
              </a:lnSpc>
            </a:pPr>
            <a:r>
              <a:rPr lang="en-US" b="true" sz="600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 CARGA INCR</a:t>
            </a:r>
            <a:r>
              <a:rPr lang="en-US" b="true" sz="600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EMENTAL &amp; SCD2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67886" y="5674196"/>
            <a:ext cx="10130716" cy="51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9"/>
              </a:lnSpc>
            </a:pPr>
            <a:r>
              <a:rPr lang="en-US" b="true" sz="399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VARIABLES DE ENTORNO CONFIGURADAS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282533" y="2647766"/>
            <a:ext cx="3722933" cy="1691175"/>
          </a:xfrm>
          <a:custGeom>
            <a:avLst/>
            <a:gdLst/>
            <a:ahLst/>
            <a:cxnLst/>
            <a:rect r="r" b="b" t="t" l="l"/>
            <a:pathLst>
              <a:path h="1691175" w="3722933">
                <a:moveTo>
                  <a:pt x="0" y="0"/>
                </a:moveTo>
                <a:lnTo>
                  <a:pt x="3722934" y="0"/>
                </a:lnTo>
                <a:lnTo>
                  <a:pt x="3722934" y="1691175"/>
                </a:lnTo>
                <a:lnTo>
                  <a:pt x="0" y="16911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101388" y="2647766"/>
            <a:ext cx="3722933" cy="1691175"/>
          </a:xfrm>
          <a:custGeom>
            <a:avLst/>
            <a:gdLst/>
            <a:ahLst/>
            <a:cxnLst/>
            <a:rect r="r" b="b" t="t" l="l"/>
            <a:pathLst>
              <a:path h="1691175" w="3722933">
                <a:moveTo>
                  <a:pt x="0" y="0"/>
                </a:moveTo>
                <a:lnTo>
                  <a:pt x="3722933" y="0"/>
                </a:lnTo>
                <a:lnTo>
                  <a:pt x="3722933" y="1691175"/>
                </a:lnTo>
                <a:lnTo>
                  <a:pt x="0" y="16911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41682" y="2975829"/>
            <a:ext cx="3131026" cy="96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 spc="196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DEV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1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DESARROLLO Y PRUEBAS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21955" y="2799616"/>
            <a:ext cx="2244090" cy="132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 spc="196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PRE</a:t>
            </a:r>
          </a:p>
          <a:p>
            <a:pPr algn="ctr">
              <a:lnSpc>
                <a:spcPts val="2800"/>
              </a:lnSpc>
            </a:pPr>
            <a:r>
              <a:rPr lang="en-US" sz="2000" spc="11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V</a:t>
            </a:r>
            <a:r>
              <a:rPr lang="en-US" sz="2000" spc="11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ALIDACIÓN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1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PRE-PRODUCCIÓN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98141" y="2975829"/>
            <a:ext cx="3373914" cy="96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 spc="196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PRO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1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P</a:t>
            </a:r>
            <a:r>
              <a:rPr lang="en-US" sz="2000" spc="11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RODUCCIÓN (PREPARADO)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97248">
            <a:off x="-3265024" y="7526550"/>
            <a:ext cx="7315200" cy="3908228"/>
          </a:xfrm>
          <a:custGeom>
            <a:avLst/>
            <a:gdLst/>
            <a:ahLst/>
            <a:cxnLst/>
            <a:rect r="r" b="b" t="t" l="l"/>
            <a:pathLst>
              <a:path h="3908228" w="7315200">
                <a:moveTo>
                  <a:pt x="0" y="0"/>
                </a:moveTo>
                <a:lnTo>
                  <a:pt x="7315200" y="0"/>
                </a:lnTo>
                <a:lnTo>
                  <a:pt x="7315200" y="3908228"/>
                </a:lnTo>
                <a:lnTo>
                  <a:pt x="0" y="3908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271220">
            <a:off x="-2956880" y="-1436783"/>
            <a:ext cx="7315200" cy="3908228"/>
          </a:xfrm>
          <a:custGeom>
            <a:avLst/>
            <a:gdLst/>
            <a:ahLst/>
            <a:cxnLst/>
            <a:rect r="r" b="b" t="t" l="l"/>
            <a:pathLst>
              <a:path h="3908228" w="7315200">
                <a:moveTo>
                  <a:pt x="0" y="0"/>
                </a:moveTo>
                <a:lnTo>
                  <a:pt x="7315200" y="0"/>
                </a:lnTo>
                <a:lnTo>
                  <a:pt x="7315200" y="3908227"/>
                </a:lnTo>
                <a:lnTo>
                  <a:pt x="0" y="39082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08366" y="1622167"/>
            <a:ext cx="13811602" cy="8045258"/>
          </a:xfrm>
          <a:custGeom>
            <a:avLst/>
            <a:gdLst/>
            <a:ahLst/>
            <a:cxnLst/>
            <a:rect r="r" b="b" t="t" l="l"/>
            <a:pathLst>
              <a:path h="8045258" w="13811602">
                <a:moveTo>
                  <a:pt x="0" y="0"/>
                </a:moveTo>
                <a:lnTo>
                  <a:pt x="13811602" y="0"/>
                </a:lnTo>
                <a:lnTo>
                  <a:pt x="13811602" y="8045257"/>
                </a:lnTo>
                <a:lnTo>
                  <a:pt x="0" y="80452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36623" y="274047"/>
            <a:ext cx="1073245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 spc="336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INT</a:t>
            </a:r>
            <a:r>
              <a:rPr lang="en-US" b="true" sz="6000" spc="336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EGRACIÓN CON POWER BI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-3248145" y="-1700848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6"/>
                </a:lnTo>
                <a:lnTo>
                  <a:pt x="0" y="54590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92005">
            <a:off x="14390602" y="-1415941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7234948" y="0"/>
                </a:moveTo>
                <a:lnTo>
                  <a:pt x="0" y="0"/>
                </a:lnTo>
                <a:lnTo>
                  <a:pt x="0" y="5459097"/>
                </a:lnTo>
                <a:lnTo>
                  <a:pt x="7234948" y="5459097"/>
                </a:lnTo>
                <a:lnTo>
                  <a:pt x="723494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4578" y="6845411"/>
            <a:ext cx="2422912" cy="2422912"/>
          </a:xfrm>
          <a:custGeom>
            <a:avLst/>
            <a:gdLst/>
            <a:ahLst/>
            <a:cxnLst/>
            <a:rect r="r" b="b" t="t" l="l"/>
            <a:pathLst>
              <a:path h="2422912" w="2422912">
                <a:moveTo>
                  <a:pt x="0" y="0"/>
                </a:moveTo>
                <a:lnTo>
                  <a:pt x="2422912" y="0"/>
                </a:lnTo>
                <a:lnTo>
                  <a:pt x="2422912" y="2422911"/>
                </a:lnTo>
                <a:lnTo>
                  <a:pt x="0" y="24229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36419" y="465757"/>
            <a:ext cx="7960894" cy="5970671"/>
          </a:xfrm>
          <a:custGeom>
            <a:avLst/>
            <a:gdLst/>
            <a:ahLst/>
            <a:cxnLst/>
            <a:rect r="r" b="b" t="t" l="l"/>
            <a:pathLst>
              <a:path h="5970671" w="7960894">
                <a:moveTo>
                  <a:pt x="0" y="0"/>
                </a:moveTo>
                <a:lnTo>
                  <a:pt x="7960894" y="0"/>
                </a:lnTo>
                <a:lnTo>
                  <a:pt x="7960894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8871" y="9201150"/>
            <a:ext cx="3774325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PROYECTO_HOTEL_JAP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87454" y="6312011"/>
            <a:ext cx="139715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spc="168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GITHUB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36419" y="6521061"/>
            <a:ext cx="7960894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1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ESTA IMAGEN ES UNA ALEGORÍA QUE REPRESENTA MI ESFUERZO, TRABAJO  DIARIO Y UNA INCONTABLE CANTIDAD DE HORAS INVERTIDAS PARA LLEGAR HASTA EL DÍA DE HOY.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928394">
            <a:off x="13277925" y="4713249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7"/>
                </a:lnTo>
                <a:lnTo>
                  <a:pt x="0" y="54590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36419" y="8552167"/>
            <a:ext cx="796089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223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¡¡¡ MUCHAS GRACIAS !!!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DAHKHkjSZrc</dc:identifier>
  <dcterms:modified xsi:type="dcterms:W3CDTF">2011-08-01T06:04:30Z</dcterms:modified>
  <cp:revision>1</cp:revision>
  <dc:title>Presentacion Hotel - Javier Almirón Puertas</dc:title>
</cp:coreProperties>
</file>